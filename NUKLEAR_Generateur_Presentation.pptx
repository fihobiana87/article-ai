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Générateur de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Web &amp; Blog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Outil de production de contenu web optimisé SEO, AEO &amp; GEO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Transmission équipe — 30 mars 2026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91440"/>
          </a:xfrm>
          <a:prstGeom prst="rect">
            <a:avLst/>
          </a:prstGeom>
          <a:solidFill>
            <a:srgbClr val="E2301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05840" y="1234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Pages Web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05840" y="1417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étapes + 4 pauses — De l'intelligence client à l'audit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Boucle de Validation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1874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+ client valident avant publication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05840" y="2148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Blog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2331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étapes B1-B4 — Topic Clusters rattachés aux pages piliers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606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05840" y="2606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Sous-types d'Articles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05840" y="27889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Guide, How-To, Liste, Analyse, Comparatif, Étude de cas, Glossaire, Actualité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05840" y="30632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vs Blog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05840" y="32461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Différences clés entre les deux flux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05840" y="35204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&amp; Architecture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skills : 4 pipeline + 3 support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5840" y="3977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Arborescence &amp; Nommage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005840" y="41605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fichiers par client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434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05840" y="44348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Démarrer un Projet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005840" y="46177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pas-à-pas pour l'opérateur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PAGES WEB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d'ensemble — 4 étapes + 4 pauses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1920240" cy="3200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sources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 HTML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Entreprise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Site Initiale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40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02920" y="3840480"/>
            <a:ext cx="1554480" cy="27432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 PAUSE 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6" name="Text 13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1460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Mots-Clés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0604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50K+ mots-clés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GKP Import/Export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P1/P2/P3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interactif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348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697480" y="3840480"/>
            <a:ext cx="1554480" cy="27432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21" name="Text 18"/>
          <p:cNvSpPr/>
          <p:nvPr/>
        </p:nvSpPr>
        <p:spPr>
          <a:xfrm>
            <a:off x="269748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 PAUSE 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09160" y="1280160"/>
            <a:ext cx="1920240" cy="3200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0916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Mini-briefs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frameworks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SEO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DOCX V10.2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29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4892040" y="3840480"/>
            <a:ext cx="1554480" cy="27432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28" name="Text 25"/>
          <p:cNvSpPr/>
          <p:nvPr/>
        </p:nvSpPr>
        <p:spPr>
          <a:xfrm>
            <a:off x="489204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 PAUSE 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903720" y="1280160"/>
            <a:ext cx="1920240" cy="32004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30" name="Text 27"/>
          <p:cNvSpPr/>
          <p:nvPr/>
        </p:nvSpPr>
        <p:spPr>
          <a:xfrm>
            <a:off x="690372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4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0372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995160" y="2377440"/>
            <a:ext cx="1737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fraîche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croisée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Pré-client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Post-corrections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086600" y="3840480"/>
            <a:ext cx="1554480" cy="274320"/>
          </a:xfrm>
          <a:prstGeom prst="rect">
            <a:avLst/>
          </a:prstGeom>
          <a:solidFill>
            <a:srgbClr val="F7CBA3"/>
          </a:solidFill>
          <a:ln/>
        </p:spPr>
      </p:sp>
      <p:sp>
        <p:nvSpPr>
          <p:cNvPr id="34" name="Text 31"/>
          <p:cNvSpPr/>
          <p:nvPr/>
        </p:nvSpPr>
        <p:spPr>
          <a:xfrm>
            <a:off x="708660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⏸ PAUSE 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skills (3 pipeline + 3 support) — Skills support : writing-standards, web-optimization, nuklear-brand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Client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23774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Claude fait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 le site existant via Chrome MCP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technique (technos, couleurs, polices, meta)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 tous les documents client (PDF, DOCX, plaquettes)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Pré-remplit le Formulaire HTML (57+ questions)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JSON = source de vérité après validation client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23774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[CLIENT]_Formulaire.html — Interface client interactive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[CLIENT]_Formulaire_Valide.json — Source de vérité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[CLIENT]_Fiche_Entreprise.md — 10 sections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[CLIENT]_Structure_Site_Initiale.md — Arborescence + P1 provisoires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Formulaire HTML autonome : </a:t>
            </a:r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Sauvegarde locale + Export JSON + Import JSON — Branding NUKLEAR light mode — Responsive — Compteur de progression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Stockage : ./clients/[CLIENT]/01_Fondations/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de Mots-Clés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234440"/>
            <a:ext cx="1920240" cy="27432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004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Seeds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Extraction systématique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scraping concurrents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4028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514600" y="1234440"/>
            <a:ext cx="1920240" cy="27432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4" name="Text 11"/>
          <p:cNvSpPr/>
          <p:nvPr/>
        </p:nvSpPr>
        <p:spPr>
          <a:xfrm>
            <a:off x="251460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1460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1460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14+ angles obligatoires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50K+ minimum, viser 100K+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43484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09160" y="1234440"/>
            <a:ext cx="1920240" cy="27432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0916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→ GKP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9 999/fichier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10 mots/KW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629400" y="1463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03720" y="1234440"/>
            <a:ext cx="1920240" cy="27432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1234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4-5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03720" y="1600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Scoring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P1/P2/P3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critères pondérés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288036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2880360"/>
            <a:ext cx="54864" cy="155448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29535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Stratégie de Mots-Clés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" y="32461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P1/P2/P3 par page + métriques (volume, CPC, concurrence)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du Site Finale intégrée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H1, meta titles, meta descriptions proposés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Sauvegarde locale + Export JSON/CSV + Import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54880" y="2880360"/>
            <a:ext cx="54864" cy="155448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3" name="Text 30"/>
          <p:cNvSpPr/>
          <p:nvPr/>
        </p:nvSpPr>
        <p:spPr>
          <a:xfrm>
            <a:off x="4937760" y="29535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 de production (post-validation)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937760" y="324612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[CLIENT]_Strategie_Mots_Cles.md — Document enrichi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[CLIENT]_Structure_Site_Finale.md — P1 définitifs, URLs définitives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Stockage : 02_Mots-Cles/ + 01_Fondations/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Pages — DOCX V10.2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12344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en 5 phases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cohérence → Mini-briefs/page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page par page (32 disciplines)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Éléments techniques (SEO, JSON-LD, Answer Capsule)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croisée + livraison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12344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frameworks disponibles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(accueil) — PASTOR (services)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E-E-A-T (à propos) — Utilitaire (contact)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Study — AIDA — PAS — StoryBrand — FAQ-first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DOCX V10.2 — 7 parties par page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063240"/>
            <a:ext cx="1051560" cy="54864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Fiche SEO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64592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645920" y="3063240"/>
            <a:ext cx="1051560" cy="54864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3" name="Text 20"/>
          <p:cNvSpPr/>
          <p:nvPr/>
        </p:nvSpPr>
        <p:spPr>
          <a:xfrm>
            <a:off x="164592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64592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Capsule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283464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4640" y="3063240"/>
            <a:ext cx="1051560" cy="54864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7" name="Text 24"/>
          <p:cNvSpPr/>
          <p:nvPr/>
        </p:nvSpPr>
        <p:spPr>
          <a:xfrm>
            <a:off x="283464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83464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Contenu rédigé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02336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023360" y="3063240"/>
            <a:ext cx="1051560" cy="54864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31" name="Text 28"/>
          <p:cNvSpPr/>
          <p:nvPr/>
        </p:nvSpPr>
        <p:spPr>
          <a:xfrm>
            <a:off x="402336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02336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FAQ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21208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212080" y="3063240"/>
            <a:ext cx="1051560" cy="54864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5" name="Text 32"/>
          <p:cNvSpPr/>
          <p:nvPr/>
        </p:nvSpPr>
        <p:spPr>
          <a:xfrm>
            <a:off x="521208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21208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Maillage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640080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00800" y="3063240"/>
            <a:ext cx="1051560" cy="54864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9" name="Text 36"/>
          <p:cNvSpPr/>
          <p:nvPr/>
        </p:nvSpPr>
        <p:spPr>
          <a:xfrm>
            <a:off x="640080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40080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JSON-LD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589520" y="3063240"/>
            <a:ext cx="1051560" cy="6858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89520" y="3063240"/>
            <a:ext cx="1051560" cy="54864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43" name="Text 40"/>
          <p:cNvSpPr/>
          <p:nvPr/>
        </p:nvSpPr>
        <p:spPr>
          <a:xfrm>
            <a:off x="7589520" y="31546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589520" y="33832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Rapport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 multi-sessions : Claude propose proactivement de sauvegarder et changer de session après 3 pages ou si baisse de qualité détectée.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4 + BOUCLE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&amp; Validation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182880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(session fraîche)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bien placés (H1, meta title, intro)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 P1 dupliqué entre pages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H1, meta titles tous distincts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appliquées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Maillage cohérent avec Structure du Site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terme blacklist IA + mots interdits client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Tourne 2 fois : pré-client + post-corrections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18288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Boucle de Validation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Audit cohérence pré-client (session fraîche)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Si problèmes → Corrections → Re-audit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Présentation client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Si corrections demandées → Intégrer → Re-audit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Publication uniquement quand Audit OK + Client OK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→ Audit pré-client → Client valide ? → Corrections → Re-audit → Client re-valide → Publication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validations sont des BOUCLES : pas de limite d'itérations. On ne publie que quand audit ET client valident conjointement. Les corrections mineures (typos) ne nécessitent pas de re-audit.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Blog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organisés en Topic Clusters — 4 étapes B1 à B4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73152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BLOG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d'ensemble — 4 étapes + 5 pauses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280160"/>
            <a:ext cx="1920240" cy="32004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286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Scraping page pilier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10K+/cluster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→ GKP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d'articles priorisé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4028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4" name="Text 11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51460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MC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606040" y="2286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P1/P2/P3 par article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interactif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 de production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3484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709160" y="1280160"/>
            <a:ext cx="1920240" cy="32004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9" name="Text 16"/>
          <p:cNvSpPr/>
          <p:nvPr/>
        </p:nvSpPr>
        <p:spPr>
          <a:xfrm>
            <a:off x="470916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70916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00600" y="2286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phases internes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sous-types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Auto-check (niveau 1)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+ MD + Strapi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2940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6903720" y="1280160"/>
            <a:ext cx="1920240" cy="32004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4" name="Text 21"/>
          <p:cNvSpPr/>
          <p:nvPr/>
        </p:nvSpPr>
        <p:spPr>
          <a:xfrm>
            <a:off x="6903720" y="1280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995160" y="2286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fraîche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Vérifications par article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Vérifications croisées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Boucle validation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Pré-requis : Pages publiées (idéal) OU Fiche Entreprise + Structure Site scrappée. Ne jamais démarrer sans contexte client.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ÉTAPES B1 &amp; B2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Préparation Cluster &amp; Stratégie Mots-Clés Blog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18288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B1 — Préparation Cluster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: URL page pilier OU sujet/thème fourni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concurrence (blogs concurrents)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massive : 10K+ par cluster, viser 20-30K+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14+ angles informationnels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GKP par cluster : [CLIENT]_GKP_BLOG_[Cluster]_...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d'articles priorisé (sous-types, angles, P1)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182880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 — Stratégie MC Cluster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Assignation P1/P2/P3 par article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: blog P1 ≠ pages P1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Enrichissement sémantique (entités, LSI, PAA)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interactif (même pattern que pages)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→ [CLIENT]_Strategie_MC_Blog_[Cluster].md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Clusters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cluster est rattaché à une page pilier. Maillage bidirectionnel obligatoire : article → pilier (≥2 liens) + pilier → articles.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stricte : blog P1 ≠ page P1 (intent informationnel vs commercial). Aucun P1 dupliqué entre articles.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B3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Articles — 2 phases internes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137160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Contenu (P1-P4)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: Fiche technique SEO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 : Answer Capsule AEO/GEO (50-70 mots)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P3 : Article complet (selon sous-type)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P4 : FAQ exploitant P3 + questions GEO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137160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Technique (P5-P7)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P5 : Maillage (≥2 liens pilier + inter-articles)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P6 : JSON-LD BlogPosting avec auteur E-E-A-T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P7 : KPIs &amp; Tracking (GA4, benchmarks)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Auto-check intégré avant livraison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fichiers par article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200400"/>
            <a:ext cx="260604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3200400"/>
            <a:ext cx="2606040" cy="54864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MD + PDF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éditorial + Article + Newsletter + FAQ + Sources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91840" y="3200400"/>
            <a:ext cx="260604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91840" y="3200400"/>
            <a:ext cx="2606040" cy="54864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23" name="Text 20"/>
          <p:cNvSpPr/>
          <p:nvPr/>
        </p:nvSpPr>
        <p:spPr>
          <a:xfrm>
            <a:off x="338328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Strapi MD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38328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champs mappés pour import CMS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126480" y="3200400"/>
            <a:ext cx="2606040" cy="914400"/>
          </a:xfrm>
          <a:prstGeom prst="rect">
            <a:avLst/>
          </a:prstGeom>
          <a:solidFill>
            <a:srgbClr val="F8F8F8"/>
          </a:solidFill>
          <a:ln w="6350">
            <a:solidFill>
              <a:srgbClr val="EAEA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3200400"/>
            <a:ext cx="2606040" cy="54864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0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Auto-check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17920" y="35661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densité, maillage, blacklist, structure Hn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Multi-sessions : Claude propose de changer de session après 2 articles ou si baisse de qualité.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sous-types d'articles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80160"/>
            <a:ext cx="1874520" cy="54864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d'ensemble exhaustive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2 500-3 500 mots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0" y="128016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280160"/>
            <a:ext cx="1874520" cy="54864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HOW-TO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697480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Tutoriel pas-à-pas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9748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D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63440" y="128016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280160"/>
            <a:ext cx="1874520" cy="54864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20" name="Text 17"/>
          <p:cNvSpPr/>
          <p:nvPr/>
        </p:nvSpPr>
        <p:spPr>
          <a:xfrm>
            <a:off x="480060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Curation classée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0060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66560" y="128016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66560" y="1280160"/>
            <a:ext cx="1874520" cy="54864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1417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03720" y="17373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 approfondie + données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903720" y="22860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2 000-3 000 mots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297180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57200" y="2971800"/>
            <a:ext cx="1874520" cy="54864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0" name="Text 27"/>
          <p:cNvSpPr/>
          <p:nvPr/>
        </p:nvSpPr>
        <p:spPr>
          <a:xfrm>
            <a:off x="59436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COMPARATIF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vs Y, verdict argumenté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436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2 000-3 000 mots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560320" y="297180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560320" y="2971800"/>
            <a:ext cx="1874520" cy="54864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35" name="Text 32"/>
          <p:cNvSpPr/>
          <p:nvPr/>
        </p:nvSpPr>
        <p:spPr>
          <a:xfrm>
            <a:off x="269748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 DE CAS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269748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Contexte, défi, résultats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69748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6D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1 500-2 500 mots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663440" y="297180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63440" y="2971800"/>
            <a:ext cx="1874520" cy="54864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40" name="Text 37"/>
          <p:cNvSpPr/>
          <p:nvPr/>
        </p:nvSpPr>
        <p:spPr>
          <a:xfrm>
            <a:off x="480060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GLOSSAIRE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480060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Définitions structurées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80060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1 000-2 000 mots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66560" y="2971800"/>
            <a:ext cx="1874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766560" y="2971800"/>
            <a:ext cx="1874520" cy="54864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45" name="Text 42"/>
          <p:cNvSpPr/>
          <p:nvPr/>
        </p:nvSpPr>
        <p:spPr>
          <a:xfrm>
            <a:off x="6903720" y="3108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ACTUALITÉ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903720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Fait, analyse, impact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903720" y="39776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800-1 500 mots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COMPARAISON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 Pages vs Flux Blog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18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Aspect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40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40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040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Commercial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Informationnel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Organisation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 page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 cluster (page pilier)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Mots-clés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50K+ minimum, viser 100K+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10K+ par cluster, viser 20-30K+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Maillage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Inter-pages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Bidirectionnel article ↔ pilier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JSON-LD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WebPage, Service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BlogPosting + auteur E-E-A-T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Featured Snippet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Optionnel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Obligatoire par article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Livrable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DOCX V10.2 (7 parties)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PDF + MD + Strapi MD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 lot de pages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 cluster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Newsletter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4040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Oui, intégrée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du Générateur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Pipeline (4)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intelligence-client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Collecte, formulaire, Fiche Entreprise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keyword-strategy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2004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Expansion, GKP, scoring, P1/P2/P3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redaction-pages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contenu pages, DOCX V10.2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2697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redaction-blog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004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articles blog, 3 sorties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3063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audit-coherence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croisé pages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4b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audit-coherence-blog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004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croisé cluster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6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Support (3)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6868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writing-standards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20040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Socle qualité : blacklist IA, humanisation, frameworks rédactionnels (PASTOR, AIDA...)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868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web-optimization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2004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disciplines SEO/GEO/AEO/CRO/E-E-A-T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6868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nuklear-brand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2004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Charte NUKLEAR (light theme, logo SVG fixe) — livrables NUKLEAR uniquement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FICHIERS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Arborescence &amp; Nommage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8229600" cy="3474720"/>
          </a:xfrm>
          <a:prstGeom prst="rect">
            <a:avLst/>
          </a:prstGeom>
          <a:solidFill>
            <a:srgbClr val="191919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371600"/>
            <a:ext cx="7498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./clients/[CLIENT]/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01_Fondations/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[CLIENT]_Formulaire.html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[CLIENT]_Formulaire_Valide.json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[CLIENT]_Fiche_Entreprise.md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[CLIENT]_Structure_Site_Initiale.md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[CLIENT]_Structure_Site_Finale.md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02_Mots-Cles/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[CLIENT]_Strategie_MC.html + .md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GKP-Import/ + GKP-Export/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03_Contenu_Pages/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[CLIENT]_[Page]_[Lang]_V[X].docx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04_Blog/[Cluster]/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Plan_Cluster + Strategie_MC_Blog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[CLIENT]_[Cluster]_Briefs.md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E9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[Article]/ → .md + .pdf + Strapi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05_Audits/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_Claude/ → Briefs de continuité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démarrer un nouveau projet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Collecter les sources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1527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du site, PDF, plaquettes, charte graphique, nom du client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012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intelligence-client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60120" y="2441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scrappe + pré-remplit le formulaire HTML → envoyer au client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6012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Récupérer le JSON validé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60120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client exporte le JSON → Claude génère Fiche Entreprise + Structure Site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012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keyword-strategy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" y="4270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50K+ → CSV GKP → Import/Export GKP → Scoring → HTML interactif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54880" y="12801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257800" y="1280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la stratégie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57800" y="15270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valide P1/P2/P3 dans le HTML → Export → Documents de production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25780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redaction-pages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257800" y="2441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Mini-briefs → Validation → Rédaction page par page → DOCX V10.2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54880" y="31089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3" name="Text 30"/>
          <p:cNvSpPr/>
          <p:nvPr/>
        </p:nvSpPr>
        <p:spPr>
          <a:xfrm>
            <a:off x="47548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25780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+ Validation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257800" y="3355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(session fraîche) → Client valide → Boucle corrections → Publication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37" name="Text 34"/>
          <p:cNvSpPr/>
          <p:nvPr/>
        </p:nvSpPr>
        <p:spPr>
          <a:xfrm>
            <a:off x="475488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25780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(optionnel)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57800" y="4270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 principe : B1 Préparation → B2 Stratégie → B3 Rédaction → B4 Audit Cluster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23013"/>
          </a:solidFill>
          <a:ln/>
        </p:spPr>
      </p:sp>
      <p:pic>
        <p:nvPicPr>
          <p:cNvPr id="3" name="Image 0" descr="/sessions/clever-nifty-dijkstra/mnt/.claude/skills/nuklear-brand/assets/logos/N - no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2860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0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NUKLEAR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Réalisations à date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2344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234440"/>
            <a:ext cx="54864" cy="13716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Pages Web — nuklear.io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16002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1 : Fiche Entreprise + Structure Site complètes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2 : Stratégie mots-clés FR terminée (GKP importé/exporté)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Étape 3 : Homepage FR en cours de rédaction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39319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54864" cy="1371600"/>
          </a:xfrm>
          <a:prstGeom prst="rect">
            <a:avLst/>
          </a:prstGeom>
          <a:solidFill>
            <a:srgbClr val="0E96A8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307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Blog — 6 articles produits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1600200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1 à 5 + Article 7 (Art1-Art5, Art7)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article : Master.md (7 parties) + HTML validation + Strapi MD + Blog PDF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 Clusters avec maillage bidirectionnel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8346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" y="2834640"/>
            <a:ext cx="54864" cy="1188720"/>
          </a:xfrm>
          <a:prstGeom prst="rect">
            <a:avLst/>
          </a:prstGeom>
          <a:solidFill>
            <a:srgbClr val="EF6D25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Mots-Clés &amp; GKP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" y="32004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GKP Import/Export en place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Stratégie de scoring multicritère appliquée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Anti-cannibalisation pages vs blog active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28346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AEA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2834640"/>
            <a:ext cx="54864" cy="1188720"/>
          </a:xfrm>
          <a:prstGeom prst="rect">
            <a:avLst/>
          </a:prstGeom>
          <a:solidFill>
            <a:srgbClr val="040404"/>
          </a:solidFill>
          <a:ln/>
        </p:spPr>
      </p:sp>
      <p:sp>
        <p:nvSpPr>
          <p:cNvPr id="22" name="Text 19"/>
          <p:cNvSpPr/>
          <p:nvPr/>
        </p:nvSpPr>
        <p:spPr>
          <a:xfrm>
            <a:off x="493776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04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Techniques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20040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 techniques disponibles dans 05_Audits/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cohérence à systématiser avec le nouveau skill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dossier complet est dans : OUTILS/Generateur-Pages-Web/ + NUKLEAR/Site-NUKLEAR-Pipeline/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clever-nifty-dijkstra/mnt/.claude/skills/nuklear-brand/assets/logos/N - 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Prochaines étapes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417320"/>
            <a:ext cx="1828800" cy="36576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D4D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1709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Mettre à jour les 7 skills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984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intelligence-client, keyword-strategy, redaction-pages, writing-standards, web-optimization, nuklear-brand, audit-coherence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097280" y="2624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les skills blog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898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redaction-blog + audit-coherence-blog + adaptation keyword-strategy mode blog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solidFill>
            <a:srgbClr val="E23013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97280" y="3538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Nettoyage et dossier transmission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3813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6B6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Réorganiser les réalisations, archiver l'ancien système, préparer le dossier prêt à l'emploi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28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L'équipe a accès à Claude Cowork — les skills sont installables directement.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Générateur de Pages Web &amp; Blog — NUKLEAR</dc:title>
  <dc:subject>PptxGenJS Presentation</dc:subject>
  <dc:creator>NUKLEAR</dc:creator>
  <cp:lastModifiedBy>NUKLEAR</cp:lastModifiedBy>
  <cp:revision>1</cp:revision>
  <dcterms:created xsi:type="dcterms:W3CDTF">2026-03-28T13:21:07Z</dcterms:created>
  <dcterms:modified xsi:type="dcterms:W3CDTF">2026-03-28T13:21:07Z</dcterms:modified>
</cp:coreProperties>
</file>